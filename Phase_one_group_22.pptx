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1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602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5029200" y="-457200"/>
            <a:ext cx="45720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0D2B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KDDM1 PROJECT 2026 · PHASE 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Ice Hockey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 Scouting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I: data loading, preprocessing, cleaning and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understanding — without using the target variable.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1920240" cy="9144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3931920"/>
            <a:ext cx="1920240" cy="9144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2606040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06040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931920"/>
            <a:ext cx="1920240" cy="9144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4754880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/ rows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3931920"/>
            <a:ext cx="1920240" cy="9144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6903720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03720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0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46304"/>
            <a:ext cx="123444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25">
            <a:extLst>
              <a:ext uri="{FF2B5EF4-FFF2-40B4-BE49-F238E27FC236}">
                <a16:creationId xmlns:a16="http://schemas.microsoft.com/office/drawing/2014/main" id="{6AD2BAA8-86B9-DE5F-0731-39893969C82D}"/>
              </a:ext>
            </a:extLst>
          </p:cNvPr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0D2B52"/>
          </a:solidFill>
          <a:ln w="635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I pipeline — preprocessing, cleaning, EDA, no target use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1965960" cy="411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548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9164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33172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 files in 5 different formats (TSV, CSV, XLSX, PKL, JSON). Each loaded with format-specific parsing logic.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86000" y="2560320"/>
            <a:ext cx="182880" cy="45720"/>
          </a:xfrm>
          <a:prstGeom prst="rect">
            <a:avLst/>
          </a:prstGeom>
          <a:solidFill>
            <a:srgbClr val="8AA4C0"/>
          </a:solidFill>
          <a:ln w="12700">
            <a:solidFill>
              <a:srgbClr val="8AA4C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Shape 9"/>
          <p:cNvSpPr/>
          <p:nvPr/>
        </p:nvSpPr>
        <p:spPr>
          <a:xfrm>
            <a:off x="2468880" y="1143000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Shape 10"/>
          <p:cNvSpPr/>
          <p:nvPr/>
        </p:nvSpPr>
        <p:spPr>
          <a:xfrm>
            <a:off x="2468880" y="1143000"/>
            <a:ext cx="1965960" cy="411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1"/>
          <p:cNvSpPr/>
          <p:nvPr/>
        </p:nvSpPr>
        <p:spPr>
          <a:xfrm>
            <a:off x="2514600" y="1143000"/>
            <a:ext cx="548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971800" y="1143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</a:t>
            </a:r>
            <a:endParaRPr lang="en-US" sz="1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69164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60320" y="233172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join on international_id / medical_id. Mom's notes matched via (first_name, last_name) after deduplication.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434840" y="2560320"/>
            <a:ext cx="182880" cy="45720"/>
          </a:xfrm>
          <a:prstGeom prst="rect">
            <a:avLst/>
          </a:prstGeom>
          <a:solidFill>
            <a:srgbClr val="8AA4C0"/>
          </a:solidFill>
          <a:ln w="12700">
            <a:solidFill>
              <a:srgbClr val="8AA4C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5"/>
          <p:cNvSpPr/>
          <p:nvPr/>
        </p:nvSpPr>
        <p:spPr>
          <a:xfrm>
            <a:off x="4617720" y="1143000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Shape 16"/>
          <p:cNvSpPr/>
          <p:nvPr/>
        </p:nvSpPr>
        <p:spPr>
          <a:xfrm>
            <a:off x="4617720" y="1143000"/>
            <a:ext cx="1965960" cy="411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7"/>
          <p:cNvSpPr/>
          <p:nvPr/>
        </p:nvSpPr>
        <p:spPr>
          <a:xfrm>
            <a:off x="4663440" y="1143000"/>
            <a:ext cx="548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5120640" y="1143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14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691640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09160" y="233172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units, fix typos, flag missing and invalid values. No blind imputation in Phase I.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583680" y="2560320"/>
            <a:ext cx="182880" cy="45720"/>
          </a:xfrm>
          <a:prstGeom prst="rect">
            <a:avLst/>
          </a:prstGeom>
          <a:solidFill>
            <a:srgbClr val="8AA4C0"/>
          </a:solidFill>
          <a:ln w="12700">
            <a:solidFill>
              <a:srgbClr val="8AA4C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Shape 21"/>
          <p:cNvSpPr/>
          <p:nvPr/>
        </p:nvSpPr>
        <p:spPr>
          <a:xfrm>
            <a:off x="6766560" y="1143000"/>
            <a:ext cx="19659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7" name="Shape 22"/>
          <p:cNvSpPr/>
          <p:nvPr/>
        </p:nvSpPr>
        <p:spPr>
          <a:xfrm>
            <a:off x="6766560" y="1143000"/>
            <a:ext cx="1965960" cy="41148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3"/>
          <p:cNvSpPr/>
          <p:nvPr/>
        </p:nvSpPr>
        <p:spPr>
          <a:xfrm>
            <a:off x="6812280" y="1143000"/>
            <a:ext cx="548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7269480" y="1143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14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1691640"/>
            <a:ext cx="548640" cy="5486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58000" y="233172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the merged 10,000-player dataset: missingness, domain validity, correlations and visual patterns — without target use.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Noise / free-text / ID-like fields are documented as non-direct features. Unknown values are handled cautiously, not blindly filled.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4" name="Text 28"/>
          <p:cNvSpPr/>
          <p:nvPr/>
        </p:nvSpPr>
        <p:spPr>
          <a:xfrm>
            <a:off x="8412480" y="4800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228600"/>
            <a:ext cx="96012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0E1F"/>
          </a:solidFill>
          <a:ln w="12700">
            <a:solidFill>
              <a:srgbClr val="050E1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Loading &amp; Standardization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322084"/>
              </p:ext>
            </p:extLst>
          </p:nvPr>
        </p:nvGraphicFramePr>
        <p:xfrm>
          <a:off x="320040" y="1207008"/>
          <a:ext cx="5303520" cy="34381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Quirk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identity_card_0.tsv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names in Latin; IDs as Roman numerals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identity_card_1.csv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columns; 9,112 players (complements id0)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performance.tsv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Typo: penality_minutes → penalty_minutes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medical_information.xlsx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XLSX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Junk metadata row + split header across rows 1–2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hockey_scouting_notes.csv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Clean; includes position, experience, scout 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contracts_competition.pkl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Loaded from pickle; joined on international_id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moms_notes.json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ID field; name-based matching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005840"/>
            <a:ext cx="2926080" cy="118872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Shape 4"/>
          <p:cNvSpPr/>
          <p:nvPr/>
        </p:nvSpPr>
        <p:spPr>
          <a:xfrm>
            <a:off x="5852160" y="1005840"/>
            <a:ext cx="54864" cy="1188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5"/>
          <p:cNvSpPr/>
          <p:nvPr/>
        </p:nvSpPr>
        <p:spPr>
          <a:xfrm>
            <a:off x="5989320" y="1069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Roman Numerals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89320" y="138988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CCLXXV → 275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ID parser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52160" y="2331720"/>
            <a:ext cx="2926080" cy="118872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8"/>
          <p:cNvSpPr/>
          <p:nvPr/>
        </p:nvSpPr>
        <p:spPr>
          <a:xfrm>
            <a:off x="5852160" y="2331720"/>
            <a:ext cx="54864" cy="1188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9"/>
          <p:cNvSpPr/>
          <p:nvPr/>
        </p:nvSpPr>
        <p:spPr>
          <a:xfrm>
            <a:off x="5989320" y="23957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Latin → English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89320" y="27157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praenomen → first_name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cognomen → last_name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3657600"/>
            <a:ext cx="2926080" cy="118872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2"/>
          <p:cNvSpPr/>
          <p:nvPr/>
        </p:nvSpPr>
        <p:spPr>
          <a:xfrm>
            <a:off x="5852160" y="3657600"/>
            <a:ext cx="54864" cy="1188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3"/>
          <p:cNvSpPr/>
          <p:nvPr/>
        </p:nvSpPr>
        <p:spPr>
          <a:xfrm>
            <a:off x="5989320" y="3721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Header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89320" y="404164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header reconstruction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parsing for medical data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8600"/>
            <a:ext cx="96012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Merging Strategy &amp; Unknown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20240" cy="10058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2004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dataset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920240" cy="10058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246888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after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051560"/>
            <a:ext cx="1920240" cy="10058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61772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051560"/>
            <a:ext cx="1920240" cy="10058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6766560" y="1051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16002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240280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5720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Pipeline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69748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id0 + id1 → outer join on international_id + medical_id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 duplicate columns (first_name, age, birth_city…)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performance.tsv on international_id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medical_information.xlsx on medical_id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hockey_scouting_notes.csv on international_id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contracts_competition.pkl on international_id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moms_notes.json via name + closest-age matching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240280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484632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Mom's Notes — Matching Strategy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697480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moms_notes.json has no stable ID column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names: direct match on (first_name, last_name)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names: choose closest age, keep uncertainty visible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rows: kept as missing values, not deleted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mechanism cannot be proven in Phase I (MCAR/MAR/NMAR only discussed cautiously)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output keeps invalid flags for later Phase II preprocessing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8600"/>
            <a:ext cx="96012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0E1F"/>
          </a:solidFill>
          <a:ln w="12700">
            <a:solidFill>
              <a:srgbClr val="050E1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RELATIONSHIPS  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 Correlations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188460" cy="658368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+0.75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737360" y="150876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passes_completed ↔ pass_completion_rate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58568"/>
            <a:ext cx="4188460" cy="658368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320040" y="2258568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502920" y="225856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+0.71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22585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puck_touches ↔ passes_completed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08376"/>
            <a:ext cx="4188460" cy="658368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320040" y="3008376"/>
            <a:ext cx="54864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502920" y="3008376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−0.70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737360" y="300837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↔ body_fat_percentage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758184"/>
            <a:ext cx="4188460" cy="658368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320040" y="3758184"/>
            <a:ext cx="54864" cy="658368"/>
          </a:xfrm>
          <a:prstGeom prst="rect">
            <a:avLst/>
          </a:prstGeom>
          <a:solidFill>
            <a:srgbClr val="FFA94D"/>
          </a:solidFill>
          <a:ln w="12700">
            <a:solidFill>
              <a:srgbClr val="FFA94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502920" y="3758184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+0.69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737360" y="375818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↔ games_missed_due_to_injury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572000"/>
            <a:ext cx="5303520" cy="41148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502920" y="45720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is linear only; sensitive to outliers; no causal claims; high correlations </a:t>
            </a:r>
          </a:p>
          <a:p>
            <a:pPr marL="0" indent="0">
              <a:buNone/>
            </a:pPr>
            <a:r>
              <a:rPr lang="en-US" sz="900" i="1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about multicollinearity.</a:t>
            </a:r>
            <a:endParaRPr lang="en-US" sz="9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20140"/>
            <a:ext cx="4572000" cy="37719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28600"/>
            <a:ext cx="96012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RELATIONSHIPS  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 &amp; Grouped Views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96469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Relationship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1850559" cy="875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7" name="Shape 5"/>
          <p:cNvSpPr/>
          <p:nvPr/>
        </p:nvSpPr>
        <p:spPr>
          <a:xfrm>
            <a:off x="411480" y="1873567"/>
            <a:ext cx="274320" cy="27432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411480" y="1862199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7617" y="1613791"/>
            <a:ext cx="1515110" cy="7564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vs goals and weight vs shot speed show broad scatter rather than a clean deterministic rule.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2719" y="2624328"/>
            <a:ext cx="1850559" cy="87503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411480" y="2940810"/>
            <a:ext cx="274320" cy="27432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11479" y="2923921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7859" y="2673223"/>
            <a:ext cx="139335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ice differs by position and contains one extreme value, so role-specific context matters.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7360" y="3675887"/>
            <a:ext cx="1843238" cy="875031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411480" y="3976242"/>
            <a:ext cx="274320" cy="27432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411480" y="396595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19" y="3724782"/>
            <a:ext cx="138603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plots support relationship exploration only — not causal conclusions.</a:t>
            </a:r>
            <a:endParaRPr lang="en-US" sz="10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415" y="914400"/>
            <a:ext cx="6963643" cy="42291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28600"/>
            <a:ext cx="96012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0E1F"/>
          </a:solidFill>
          <a:ln w="12700">
            <a:solidFill>
              <a:srgbClr val="050E1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Values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favourite_tv_show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200400" cy="2286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3200400" cy="2286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3611880" y="149047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470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favourite_food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3200400" cy="2286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320040" y="2212848"/>
            <a:ext cx="3200400" cy="2286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3611880" y="21945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5511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medical_information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916936"/>
            <a:ext cx="3200400" cy="2286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320040" y="2916936"/>
            <a:ext cx="2726101" cy="228600"/>
          </a:xfrm>
          <a:prstGeom prst="rect">
            <a:avLst/>
          </a:prstGeom>
          <a:solidFill>
            <a:srgbClr val="FFA94D"/>
          </a:solidFill>
          <a:ln w="12700">
            <a:solidFill>
              <a:srgbClr val="FFA94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3611880" y="2898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85.18%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32552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personal_notes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621024"/>
            <a:ext cx="3200400" cy="2286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320040" y="3621024"/>
            <a:ext cx="1023808" cy="2286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3611880" y="36027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31.99%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959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fitness_level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325112"/>
            <a:ext cx="3200400" cy="228600"/>
          </a:xfrm>
          <a:prstGeom prst="rect">
            <a:avLst/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Shape 21"/>
          <p:cNvSpPr/>
          <p:nvPr/>
        </p:nvSpPr>
        <p:spPr>
          <a:xfrm>
            <a:off x="320040" y="4325112"/>
            <a:ext cx="508864" cy="2286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3611880" y="43068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15.9%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1005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Strategy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1463040"/>
            <a:ext cx="42976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missing: favourite_tv_show, favourite_food → unusable / drop candidates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medical_information (85%): sparse free text; not a direct model feature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fitness_level (15.9%): categorical → possible 'Unknown' label later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missing: median imputation only after train/test split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missingness: keep NaT + missing flag; no blind date imputation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~0.37% missing across 50+ performance columns: likely one source record absent, not random noise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check is only evidence: MCAR/MAR/NMAR not proven in Phase I, but first assumptions tested.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0D2B52"/>
          </a:solidFill>
          <a:ln w="635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50292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values are blindly imputed in Phase I. Missingness is quantified and documented; final imputation belongs after the Phase II train/test split.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8600"/>
            <a:ext cx="96012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Outliers &amp; Invalid Values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 by Type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outliers: flagged as unusual, not removed automatically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Domain-impossible values: replaced with NaN in processed dataset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flags preserve where impossible values occurred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age up to 455, height up to 3.09m, save % up to 106%, time on ice 490 min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but plausible players are kept; no rows are deleted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B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winsorising/capping of impossible values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94960" y="1005840"/>
            <a:ext cx="3429000" cy="713232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5394960" y="1005840"/>
            <a:ext cx="73152" cy="7132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5577840" y="10515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max 455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13716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→ NaN + flag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0" y="1819656"/>
            <a:ext cx="3429000" cy="713232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Shape 10"/>
          <p:cNvSpPr/>
          <p:nvPr/>
        </p:nvSpPr>
        <p:spPr>
          <a:xfrm>
            <a:off x="5394960" y="1819656"/>
            <a:ext cx="73152" cy="713232"/>
          </a:xfrm>
          <a:prstGeom prst="rect">
            <a:avLst/>
          </a:prstGeom>
          <a:solidFill>
            <a:srgbClr val="FFA94D"/>
          </a:solidFill>
          <a:ln w="12700">
            <a:solidFill>
              <a:srgbClr val="FFA94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5577840" y="186537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 height violations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218541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3.09m → NaN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94960" y="2633472"/>
            <a:ext cx="3429000" cy="713232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5394960" y="2633472"/>
            <a:ext cx="73152" cy="713232"/>
          </a:xfrm>
          <a:prstGeom prst="rect">
            <a:avLst/>
          </a:prstGeom>
          <a:solidFill>
            <a:srgbClr val="FFA94D"/>
          </a:solidFill>
          <a:ln w="12700">
            <a:solidFill>
              <a:srgbClr val="FFA94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5577840" y="26791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% up to 106%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299923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impossible values → NaN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94960" y="3447288"/>
            <a:ext cx="3429000" cy="713232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5394960" y="3447288"/>
            <a:ext cx="73152" cy="713232"/>
          </a:xfrm>
          <a:prstGeom prst="rect">
            <a:avLst/>
          </a:prstGeom>
          <a:solidFill>
            <a:srgbClr val="FFA94D"/>
          </a:solidFill>
          <a:ln w="12700">
            <a:solidFill>
              <a:srgbClr val="FFA94D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5577840" y="34930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9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on ice: 490 min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381304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wing outlier → NaN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94960" y="4261104"/>
            <a:ext cx="3429000" cy="713232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5394960" y="4261104"/>
            <a:ext cx="73152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5577840" y="430682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rows deleted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462686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values flagged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92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8600"/>
            <a:ext cx="96012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FINDINGS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I result: the data is usable, but only after explicit cleaning rules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424940"/>
            <a:ext cx="4206240" cy="105156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6992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4889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Heterogeneous Sources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183642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 files in 5 formats merged into a 10,000-row, 68-column master dataset with custom parsing and careful joins.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754880" y="1424940"/>
            <a:ext cx="4206240" cy="105156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6992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4889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Missingness is Structured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349240" y="183642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columns are 100% missing; medical_information is 85.18% missing. MCAR/MAR/NMAR is tested, but strategy stays cautious for detailed analysis in phase 2 if necessary.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74320" y="2613660"/>
            <a:ext cx="4206240" cy="105156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8879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26776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Invalid ≠ Unusual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68680" y="302514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Domain-impossible values such as age 455 or height &gt;3m are replaced with NaN and flagged; IQR outliers are not automatically removed.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754880" y="2613660"/>
            <a:ext cx="4206240" cy="105156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288798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26776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Associations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349240" y="302514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Pearson pairs: passes_completed/pass_completion_rate (r=+0.75), puck_touches/passes_completed (r=+0.71), height/body fat (r=−0.70).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274320" y="3802380"/>
            <a:ext cx="4206240" cy="105156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407670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8680" y="386638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Processed Output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868680" y="421386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phase1_processed_dataset.csv keeps all rows, replaces domain-impossible values with NaN, and adds 6 &lt;column&gt;_invalid_flag columns (68 → 74 cols total).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4754880" y="3802380"/>
            <a:ext cx="4206240" cy="1051560"/>
          </a:xfrm>
          <a:prstGeom prst="rect">
            <a:avLst/>
          </a:prstGeom>
          <a:solidFill>
            <a:srgbClr val="0D2B5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407670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49240" y="386638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II Next Steps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349240" y="421386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after train/test split, handle text separately, reduce redundant features, and keep correlation caveats in mind.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8366760" y="44424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0" y="228600"/>
            <a:ext cx="960120" cy="4800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1186</Words>
  <Application>Microsoft Office PowerPoint</Application>
  <PresentationFormat>On-screen Show (16:9)</PresentationFormat>
  <Paragraphs>187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KDDM1 Ice Hockey Talent Scouting – Phase I</dc:title>
  <dc:subject>PptxGenJS Presentation</dc:subject>
  <dc:creator>PptxGenJS</dc:creator>
  <cp:lastModifiedBy>Alexander Sifkovits</cp:lastModifiedBy>
  <cp:revision>4</cp:revision>
  <dcterms:created xsi:type="dcterms:W3CDTF">2026-05-02T14:20:33Z</dcterms:created>
  <dcterms:modified xsi:type="dcterms:W3CDTF">2026-05-03T17:36:42Z</dcterms:modified>
</cp:coreProperties>
</file>