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40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Goals ↔ Assists</c:v>
                  </c:pt>
                  <c:pt idx="1">
                    <c:v>Shots ↔ Puck Touches</c:v>
                  </c:pt>
                  <c:pt idx="2">
                    <c:v>Pass Attempted ↔ Completed</c:v>
                  </c:pt>
                  <c:pt idx="3">
                    <c:v>Time on Ice ↔ Power Play</c:v>
                  </c:pt>
                  <c:pt idx="4">
                    <c:v>Penalties ↔ Penalty Min.</c:v>
                  </c:pt>
                  <c:pt idx="5">
                    <c:v>G.Against Total ↔ Average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</c:v>
                </c:pt>
                <c:pt idx="1">
                  <c:v>0.74</c:v>
                </c:pt>
                <c:pt idx="2">
                  <c:v>0.96</c:v>
                </c:pt>
                <c:pt idx="3">
                  <c:v>0.68</c:v>
                </c:pt>
                <c:pt idx="4">
                  <c:v>0.88</c:v>
                </c:pt>
                <c:pt idx="5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A80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E8E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medical_information (text)</c:v>
                  </c:pt>
                  <c:pt idx="1">
                    <c:v>fitness_level</c:v>
                  </c:pt>
                  <c:pt idx="2">
                    <c:v>scout_notes</c:v>
                  </c:pt>
                  <c:pt idx="3">
                    <c:v>dominant_hand</c:v>
                  </c:pt>
                  <c:pt idx="4">
                    <c:v>return_date</c:v>
                  </c:pt>
                  <c:pt idx="5">
                    <c:v>All other columns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85.18</c:v>
                </c:pt>
                <c:pt idx="1">
                  <c:v>15.9</c:v>
                </c:pt>
                <c:pt idx="2">
                  <c:v>10.38</c:v>
                </c:pt>
                <c:pt idx="3">
                  <c:v>6.51</c:v>
                </c:pt>
                <c:pt idx="4">
                  <c:v>6.28</c:v>
                </c:pt>
                <c:pt idx="5">
                  <c:v>0.37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IQR Outliers</c:v>
                </c:pt>
              </c:strCache>
            </c:strRef>
          </c:tx>
          <c:spPr>
            <a:solidFill>
              <a:srgbClr val="A80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00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00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260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goals_against (total)</c:v>
                  </c:pt>
                  <c:pt idx="1">
                    <c:v>goals_against (avg)</c:v>
                  </c:pt>
                  <c:pt idx="2">
                    <c:v>penalties_taken</c:v>
                  </c:pt>
                  <c:pt idx="3">
                    <c:v>time_between_pen.</c:v>
                  </c:pt>
                  <c:pt idx="4">
                    <c:v>puck_possession</c:v>
                  </c:pt>
                  <c:pt idx="5">
                    <c:v>power_play_time</c:v>
                  </c:pt>
                  <c:pt idx="6">
                    <c:v>shot_speed</c:v>
                  </c:pt>
                  <c:pt idx="7">
                    <c:v>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1634</c:v>
                </c:pt>
                <c:pt idx="1">
                  <c:v>1634</c:v>
                </c:pt>
                <c:pt idx="2">
                  <c:v>587</c:v>
                </c:pt>
                <c:pt idx="3">
                  <c:v>546</c:v>
                </c:pt>
                <c:pt idx="4">
                  <c:v>493</c:v>
                </c:pt>
                <c:pt idx="5">
                  <c:v>368</c:v>
                </c:pt>
                <c:pt idx="6">
                  <c:v>356</c:v>
                </c:pt>
                <c:pt idx="7">
                  <c:v>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3200400"/>
            <a:ext cx="8796528" cy="1943100"/>
          </a:xfrm>
          <a:prstGeom prst="rect">
            <a:avLst/>
          </a:prstGeom>
          <a:solidFill>
            <a:srgbClr val="A8002A"/>
          </a:solidFill>
          <a:ln w="12700">
            <a:solidFill>
              <a:srgbClr val="A800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7160"/>
            <a:ext cx="685800" cy="6130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9601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Hockey Talent Scouting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Data Preprocessing &amp; Exploratory Analysis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KDDM1  ·  TU Graz  · 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03.05.2026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0" y="4297680"/>
            <a:ext cx="201168" cy="2011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02752" y="4297680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0" y="4553712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02752" y="4553712"/>
            <a:ext cx="201168" cy="201168"/>
          </a:xfrm>
          <a:prstGeom prst="rect">
            <a:avLst/>
          </a:prstGeom>
          <a:solidFill>
            <a:srgbClr val="F2607A"/>
          </a:solidFill>
          <a:ln w="12700">
            <a:solidFill>
              <a:srgbClr val="E400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structured our Phase I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different formats (TSV, CSV, XLSX, PKL, JSON). Each loaded with format-specific parsing logic.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7744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716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783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2783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5176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7004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 on international_id / medical_id. Mom's notes matched via (first_name, last_name) after deduplication.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2628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3600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7667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7667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80060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1888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units, fix typos, impute or flag missing values. Identify noise features irrelevant to player selection.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75120" y="2651760"/>
            <a:ext cx="164592" cy="36576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252374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003A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58000" y="1234440"/>
            <a:ext cx="1965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0" y="1234440"/>
            <a:ext cx="196596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25512" y="1417320"/>
            <a:ext cx="621792" cy="621792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25512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9494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67728" y="2532888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the merged 10,000-player dataset: distributions, correlations, outliers — without using the target variable.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Unknown/noise features (stuffed_animal_name, eye_color, favourite_board_game, physician_signature, etc.) identified and flagged for exclusion in Phase II — not imputed.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Format Quirks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53035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Quirk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identity_card_0.tsv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names in Latin; IDs as Roman numerals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identity_card_1.csv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columns; 9,112 players (complements id0)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performance.tsv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Typo: penality_minutes → penalty_minutes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medical_information.xlsx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 metadata row + split header across rows 1-2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hockey_scouting_notes.csv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Clean; includes position, experience, scout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contracts_competition.pkl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File corrupted — all bytes ≥ 0x80 mangled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moms_notes.json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 field; name-based matching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4632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Numerals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CCLXXV → 275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via custom parser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18688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0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→ English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praenomen → first_name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cognomen → last_name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25896" y="4480560"/>
            <a:ext cx="265176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99048" y="4480560"/>
            <a:ext cx="254203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0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Header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header=None + manual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reconstruction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Strategy &amp; Mom's Notes Disambiguation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15568"/>
            <a:ext cx="1965960" cy="105156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148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mom's notes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8,827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70916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matches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0" y="1115568"/>
            <a:ext cx="19659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1188720"/>
            <a:ext cx="19659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0" y="1662379"/>
            <a:ext cx="1965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Age-disambiguated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233172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Pipeline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2743200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id0 + id1 → outer join on international_id + medical_id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duplicate columns (first_name, age, birth_city…)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performance.tsv on international_id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medical_information.xlsx on medical_id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hockey_scouting_notes.csv on international_id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contracts (unavailable — file corrupted)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moms_notes.json via intelligent name + age matching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233172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331720"/>
            <a:ext cx="397764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Mom's Notes — Matching Strategy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92040" y="274320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181 ambiguous name pairs (e.g. 5× 'David Smith') → naive merge inflated to 11,637 rows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 names (appear once): direct name match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names: pick entry with closest age — all 244 resolved to exact age match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high-confidence 1:1 merge, no Cartesian product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925 players unmatched: name not present in mom's notes (MNAR — structurally missing, not random)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assumes age consistency across sources — validated by 100% exact-age resolution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 Correlations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11480" y="1115568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15000" y="1115568"/>
            <a:ext cx="3017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assists highly correlated (r=0.82): top scorers also create plays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completion rate (r=0.96) is near-redundant with raw counts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Goals-against metrics (r=0.97) are goalie-specific — both carry same info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taken &amp; penalty minutes (r=0.88) — high multicollinearity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feature reduction likely beneficial in Phase 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Position-Specific Patterns &amp; Physical Attributes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15568"/>
            <a:ext cx="4160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15568"/>
            <a:ext cx="4160520" cy="6400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Goalie vs. Field Player Split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36192"/>
            <a:ext cx="39319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goals_against_total &amp; goals_against_average: 1,634 IQR outliers — almost exclusively goalies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save_percentage meaningful only for goalies (near-zero for field players)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faceoff_win_percentage relevant only for centres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power_play_time &amp; penalty_kill_time reflect role assignment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Stats are structurally position-conditional, not true outliers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115568"/>
            <a:ext cx="3977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15568"/>
            <a:ext cx="3977640" cy="640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Attributes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1536192"/>
            <a:ext cx="37490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height: 1.70m | Avg. weight: 82.9kg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BMI: 28.9 — slightly elevated for elite athletes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% &amp; sprint time show moderate negative correlation: leaner → faster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pro correlates weakly with performance — experience alone ≠ output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size and school_grade show no meaningful correlation with any performance metric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" y="4370832"/>
            <a:ext cx="1965960" cy="6583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148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1.70m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148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Height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0" y="4370832"/>
            <a:ext cx="19659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56032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82.9kg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56032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Weight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4370832"/>
            <a:ext cx="1965960" cy="6583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0916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70916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BMI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58000" y="4370832"/>
            <a:ext cx="196596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0" y="4443984"/>
            <a:ext cx="19659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 yrs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858000" y="4713183"/>
            <a:ext cx="19659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11480" y="1115568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15000" y="111556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 (85%):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purely free-text, not modelable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 (16%):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→ mode imputation or 'Unknown' category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scout_notes (10%):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— drop for modelling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dominant_hand / return_date (6–7%):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/ median imputation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fully blank rows: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all fields null except favourite_child_info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FFF0F3"/>
          </a:solidFill>
          <a:ln w="6350">
            <a:solidFill>
              <a:srgbClr val="E4003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0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37 rows contain nulls across all meaningful fields — likely placeholder/corrupt records. Dropped before analysis. Also: return_date is present for 99.6% of players, but its meaning is ambiguous (injury recovery? scheduled rest?) and was not treated as an injury indicator.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Treatment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4592"/>
            <a:ext cx="548640" cy="490404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11480" y="1115568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15000" y="1115568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by Type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52160" y="1536192"/>
            <a:ext cx="278892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(position-conditional):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goals_against, save_pct, faceoff_win_pct → keep, handle per-position in modelling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(synthetic data note):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synthetic — some outliers are intentional per assignment brief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errors: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455 → clear error; cap at domain-valid range (18–45)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Non-logical extremes: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shooting_pct = 88.9% — investigated; kept as plausible extreme</a:t>
            </a:r>
            <a:endParaRPr lang="en-US" sz="950" dirty="0"/>
          </a:p>
          <a:p>
            <a:pPr lvl="1" marL="508000" indent="-254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used for detection; log-transform considered for skewed features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" y="4434840"/>
            <a:ext cx="2286000" cy="594360"/>
          </a:xfrm>
          <a:prstGeom prst="rect">
            <a:avLst/>
          </a:prstGeom>
          <a:solidFill>
            <a:srgbClr val="A8002A"/>
          </a:solidFill>
          <a:ln w="12700">
            <a:solidFill>
              <a:srgbClr val="A800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11480" y="4507992"/>
            <a:ext cx="2286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455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11480" y="4743907"/>
            <a:ext cx="2286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data entry error → capped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880360" y="4434840"/>
            <a:ext cx="2286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880360" y="4507992"/>
            <a:ext cx="2286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1,634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880360" y="4743907"/>
            <a:ext cx="2286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goals_against IQR outliers (positional)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349240" y="4434840"/>
            <a:ext cx="3383280" cy="5943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349240" y="4507992"/>
            <a:ext cx="33832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349240" y="4743907"/>
            <a:ext cx="33832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outliers intentional by design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37160"/>
            <a:ext cx="685800" cy="613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694944"/>
            <a:ext cx="1005840" cy="4114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7 Heterogeneous Sources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merged into 10,000-row master dataset. Required custom parsing for 5 different formats and a Latin→English translation.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Strong Multicollinearity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pass_completion_rate (r=0.96 with counts), goals_against metrics (r=0.97) — feature reduction will be critical for Phase II.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96012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80760" y="96012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069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Position-Conditional Stats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143560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Goalie metrics (save_pct, goals_against) appear as IQR outliers for field players — structural, not errors. Must handle per-position.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Corrupted Contracts File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contracts_competition.pkl is unrecoverable — every high byte was mangled. Salary, captain status and draft year unavailable without a clean copy.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4612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612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Noise Features Identified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8328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stuffed_animal_name, eye_color, favourite_board_game, physician_signature and lifestyle columns appear to be red herrings — flagged for exclusion.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80760" y="2926080"/>
            <a:ext cx="2651760" cy="1783080"/>
          </a:xfrm>
          <a:prstGeom prst="rect">
            <a:avLst/>
          </a:prstGeom>
          <a:solidFill>
            <a:srgbClr val="22224A"/>
          </a:solidFill>
          <a:ln w="6350">
            <a:solidFill>
              <a:srgbClr val="3A3A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2926080"/>
            <a:ext cx="54864" cy="1783080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0" y="3035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Only 14.8% Have Medical Notes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3401568"/>
            <a:ext cx="2423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 text field is 85% empty. return_date present for 99.6% but meaning is ambiguous — not treated as injury indicator.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828032"/>
            <a:ext cx="8229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→  Feature selection · Model training ·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2026-04-26T10:44:02Z</dcterms:created>
  <dcterms:modified xsi:type="dcterms:W3CDTF">2026-04-26T10:44:02Z</dcterms:modified>
</cp:coreProperties>
</file>