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E400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400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400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4003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607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2607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2607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Goals ↔ Assists</c:v>
                  </c:pt>
                  <c:pt idx="1">
                    <c:v>Shots ↔ Puck Touches</c:v>
                  </c:pt>
                  <c:pt idx="2">
                    <c:v>Pass Attempted ↔ Completed</c:v>
                  </c:pt>
                  <c:pt idx="3">
                    <c:v>Time on Ice ↔ Power Play</c:v>
                  </c:pt>
                  <c:pt idx="4">
                    <c:v>Penalties ↔ Penalty Min.</c:v>
                  </c:pt>
                  <c:pt idx="5">
                    <c:v>G.Against Total ↔ Average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0.82</c:v>
                </c:pt>
                <c:pt idx="1">
                  <c:v>0.74</c:v>
                </c:pt>
                <c:pt idx="2">
                  <c:v>0.96</c:v>
                </c:pt>
                <c:pt idx="3">
                  <c:v>0.68</c:v>
                </c:pt>
                <c:pt idx="4">
                  <c:v>0.88</c:v>
                </c:pt>
                <c:pt idx="5">
                  <c:v>0.97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8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Missing %</c:v>
                </c:pt>
              </c:strCache>
            </c:strRef>
          </c:tx>
          <c:spPr>
            <a:solidFill>
              <a:srgbClr val="A800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00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400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4003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607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2607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8E8EE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medical_information (text)</c:v>
                  </c:pt>
                  <c:pt idx="1">
                    <c:v>fitness_level</c:v>
                  </c:pt>
                  <c:pt idx="2">
                    <c:v>scout_notes</c:v>
                  </c:pt>
                  <c:pt idx="3">
                    <c:v>dominant_hand</c:v>
                  </c:pt>
                  <c:pt idx="4">
                    <c:v>return_date</c:v>
                  </c:pt>
                  <c:pt idx="5">
                    <c:v>All other columns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85.18</c:v>
                </c:pt>
                <c:pt idx="1">
                  <c:v>15.9</c:v>
                </c:pt>
                <c:pt idx="2">
                  <c:v>10.38</c:v>
                </c:pt>
                <c:pt idx="3">
                  <c:v>6.51</c:v>
                </c:pt>
                <c:pt idx="4">
                  <c:v>6.28</c:v>
                </c:pt>
                <c:pt idx="5">
                  <c:v>0.37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8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IQR Outliers</c:v>
                </c:pt>
              </c:strCache>
            </c:strRef>
          </c:tx>
          <c:spPr>
            <a:solidFill>
              <a:srgbClr val="A800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00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002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4003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4003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4003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2607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2607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2607A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goals_against (total)</c:v>
                  </c:pt>
                  <c:pt idx="1">
                    <c:v>goals_against (avg)</c:v>
                  </c:pt>
                  <c:pt idx="2">
                    <c:v>penalties_taken</c:v>
                  </c:pt>
                  <c:pt idx="3">
                    <c:v>time_between_pen.</c:v>
                  </c:pt>
                  <c:pt idx="4">
                    <c:v>puck_possession</c:v>
                  </c:pt>
                  <c:pt idx="5">
                    <c:v>power_play_time</c:v>
                  </c:pt>
                  <c:pt idx="6">
                    <c:v>shot_speed</c:v>
                  </c:pt>
                  <c:pt idx="7">
                    <c:v>age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1634</c:v>
                </c:pt>
                <c:pt idx="1">
                  <c:v>1634</c:v>
                </c:pt>
                <c:pt idx="2">
                  <c:v>587</c:v>
                </c:pt>
                <c:pt idx="3">
                  <c:v>546</c:v>
                </c:pt>
                <c:pt idx="4">
                  <c:v>493</c:v>
                </c:pt>
                <c:pt idx="5">
                  <c:v>368</c:v>
                </c:pt>
                <c:pt idx="6">
                  <c:v>356</c:v>
                </c:pt>
                <c:pt idx="7">
                  <c:v>161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chart" Target="../charts/chart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Relationship Id="rId5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Relationship Id="rId5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chart" Target="..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3200400"/>
            <a:ext cx="8796528" cy="1943100"/>
          </a:xfrm>
          <a:prstGeom prst="rect">
            <a:avLst/>
          </a:prstGeom>
          <a:solidFill>
            <a:srgbClr val="A8002A"/>
          </a:solidFill>
          <a:ln w="12700">
            <a:solidFill>
              <a:srgbClr val="A8002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37160"/>
            <a:ext cx="685800" cy="61300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96012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Hockey Talent Scouting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94360" y="16916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B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 — Data Preprocessing &amp; Exploratory Analysis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94360" y="3337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KDDM1  ·  TU Graz  ·  2026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3657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Deadline: 03.05.2026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046720" y="4297680"/>
            <a:ext cx="201168" cy="201168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302752" y="4297680"/>
            <a:ext cx="201168" cy="201168"/>
          </a:xfrm>
          <a:prstGeom prst="rect">
            <a:avLst/>
          </a:prstGeom>
          <a:solidFill>
            <a:srgbClr val="F2607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0" y="4553712"/>
            <a:ext cx="201168" cy="201168"/>
          </a:xfrm>
          <a:prstGeom prst="rect">
            <a:avLst/>
          </a:prstGeom>
          <a:solidFill>
            <a:srgbClr val="F2607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302752" y="4553712"/>
            <a:ext cx="201168" cy="201168"/>
          </a:xfrm>
          <a:prstGeom prst="rect">
            <a:avLst/>
          </a:prstGeom>
          <a:solidFill>
            <a:srgbClr val="F2607A"/>
          </a:solidFill>
          <a:ln w="12700">
            <a:solidFill>
              <a:srgbClr val="E4003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800" b="1"/>
              <a:t>Approach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300"/>
              <a:t>Phase I pipeline — preprocessing, cleaning, EDA, no target use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005840" cy="41148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64592"/>
            <a:ext cx="548640" cy="4904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234440"/>
            <a:ext cx="19659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11480" y="1234440"/>
            <a:ext cx="1965960" cy="64008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78992" y="1417320"/>
            <a:ext cx="621792" cy="621792"/>
          </a:xfrm>
          <a:prstGeom prst="ellipse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78992" y="14173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02920" y="21488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21208" y="2532888"/>
            <a:ext cx="17556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source files in 5 different formats (TSV, CSV, XLSX, PKL, JSON). Each loaded with format-specific parsing logic.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377440" y="2651760"/>
            <a:ext cx="164592" cy="36576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87168" y="2523744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003A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60320" y="1234440"/>
            <a:ext cx="19659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560320" y="1234440"/>
            <a:ext cx="1965960" cy="64008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27832" y="1417320"/>
            <a:ext cx="621792" cy="621792"/>
          </a:xfrm>
          <a:prstGeom prst="ellipse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27832" y="14173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2651760" y="21488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670048" y="2532888"/>
            <a:ext cx="17556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join on international_id / medical_id. Mom's notes matched via (first_name, last_name) after deduplication.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526280" y="2651760"/>
            <a:ext cx="164592" cy="36576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36008" y="2523744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003A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09160" y="1234440"/>
            <a:ext cx="19659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709160" y="1234440"/>
            <a:ext cx="1965960" cy="64008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376672" y="1417320"/>
            <a:ext cx="621792" cy="621792"/>
          </a:xfrm>
          <a:prstGeom prst="ellipse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76672" y="14173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4800600" y="21488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818888" y="2532888"/>
            <a:ext cx="17556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1000"/>
              <a:t>Normalise units, fix typos, flag missing and invalid values. No blind imputation in Phase I.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675120" y="2651760"/>
            <a:ext cx="164592" cy="36576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84848" y="2523744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003A"/>
                </a:solidFill>
              </a:rPr>
              <a:t>▶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858000" y="1234440"/>
            <a:ext cx="19659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0" y="1234440"/>
            <a:ext cx="1965960" cy="64008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525512" y="1417320"/>
            <a:ext cx="621792" cy="621792"/>
          </a:xfrm>
          <a:prstGeom prst="ellipse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525512" y="14173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6949440" y="21488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967728" y="2532888"/>
            <a:ext cx="17556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1000"/>
              <a:t>EDA on the merged 10,000-player dataset: missingness, domain validity, correlations and visual patterns — without target use.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411480" y="4663440"/>
            <a:ext cx="8321040" cy="329184"/>
          </a:xfrm>
          <a:prstGeom prst="rect">
            <a:avLst/>
          </a:prstGeom>
          <a:solidFill>
            <a:srgbClr val="FFF0F3"/>
          </a:solidFill>
          <a:ln w="6350">
            <a:solidFill>
              <a:srgbClr val="E4003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02920" y="4663440"/>
            <a:ext cx="82296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sz="1000"/>
              <a:t>⚠  Noise / free-text / ID-like fields are documented as non-direct features. Unknown values are handled cautiously, not blindly filled.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 ①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500"/>
              <a:t>Loading &amp; Standardization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005840" cy="41148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64592"/>
            <a:ext cx="548640" cy="490404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15568"/>
          <a:ext cx="8321040" cy="3200400"/>
        </p:xfrm>
        <a:graphic>
          <a:graphicData uri="http://schemas.openxmlformats.org/drawingml/2006/table">
            <a:tbl>
              <a:tblPr/>
              <a:tblGrid>
                <a:gridCol w="2194560"/>
                <a:gridCol w="822960"/>
                <a:gridCol w="5303520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0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0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Quirk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003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identity_card_0.tsv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names in Latin; IDs as Roman numerals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identity_card_1.csv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columns; 9,112 players (complements id0)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performance.tsv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Typo: penality_minutes → penalty_minutes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medical_information.xlsx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XLSX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Junk metadata row + split header across rows 1-2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hockey_scouting_notes.csv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Clean; includes position, experience, scout 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contracts_competition.pkl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Loaded from pickle; joined on international_id</a:t>
                      </a: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moms_notes.json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ID field; name-based matching 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11480" y="4480560"/>
            <a:ext cx="2651760" cy="548640"/>
          </a:xfrm>
          <a:prstGeom prst="rect">
            <a:avLst/>
          </a:prstGeom>
          <a:solidFill>
            <a:srgbClr val="FFF0F3"/>
          </a:solidFill>
          <a:ln w="6350">
            <a:solidFill>
              <a:srgbClr val="E4003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84632" y="4480560"/>
            <a:ext cx="254203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sz="1200"/>
              <a:t>Roman Numerals</a:t>
            </a:r>
            <a:endParaRPr lang="en-US" sz="900" dirty="0"/>
          </a:p>
          <a:p/>
          <a:p>
            <a:r>
              <a:rPr sz="1200"/>
              <a:t>CCLXXV → 275</a:t>
            </a:r>
          </a:p>
          <a:p>
            <a:r>
              <a:rPr sz="1200"/>
              <a:t>custom ID parser</a:t>
            </a:r>
          </a:p>
        </p:txBody>
      </p:sp>
      <p:sp>
        <p:nvSpPr>
          <p:cNvPr id="9" name="Shape 5"/>
          <p:cNvSpPr/>
          <p:nvPr/>
        </p:nvSpPr>
        <p:spPr>
          <a:xfrm>
            <a:off x="3218688" y="4480560"/>
            <a:ext cx="2651760" cy="548640"/>
          </a:xfrm>
          <a:prstGeom prst="rect">
            <a:avLst/>
          </a:prstGeom>
          <a:solidFill>
            <a:srgbClr val="FFF0F3"/>
          </a:solidFill>
          <a:ln w="6350">
            <a:solidFill>
              <a:srgbClr val="E4003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91840" y="4480560"/>
            <a:ext cx="254203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sz="1200"/>
              <a:t>Latin → English</a:t>
            </a:r>
            <a:endParaRPr lang="en-US" sz="900" dirty="0"/>
          </a:p>
          <a:p/>
          <a:p>
            <a:r>
              <a:rPr sz="1200"/>
              <a:t>praenomen → first_name</a:t>
            </a:r>
          </a:p>
          <a:p>
            <a:r>
              <a:rPr sz="1200"/>
              <a:t>cognomen → last_name</a:t>
            </a:r>
          </a:p>
        </p:txBody>
      </p:sp>
      <p:sp>
        <p:nvSpPr>
          <p:cNvPr id="11" name="Shape 7"/>
          <p:cNvSpPr/>
          <p:nvPr/>
        </p:nvSpPr>
        <p:spPr>
          <a:xfrm>
            <a:off x="6025896" y="4480560"/>
            <a:ext cx="2651760" cy="548640"/>
          </a:xfrm>
          <a:prstGeom prst="rect">
            <a:avLst/>
          </a:prstGeom>
          <a:solidFill>
            <a:srgbClr val="FFF0F3"/>
          </a:solidFill>
          <a:ln w="6350">
            <a:solidFill>
              <a:srgbClr val="E4003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099048" y="4480560"/>
            <a:ext cx="254203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sz="1200"/>
              <a:t>Excel Header</a:t>
            </a:r>
            <a:endParaRPr lang="en-US" sz="900" dirty="0"/>
          </a:p>
          <a:p/>
          <a:p>
            <a:r>
              <a:rPr sz="1200"/>
              <a:t>manual header reconstruction</a:t>
            </a:r>
          </a:p>
          <a:p>
            <a:r>
              <a:rPr sz="1200"/>
              <a:t>unit parsing for medical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 ②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500"/>
              <a:t>Merging Strategy &amp; Unknown Data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005840" cy="41148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64592"/>
            <a:ext cx="548640" cy="4904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115568"/>
            <a:ext cx="1965960" cy="1051560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11480" y="1188720"/>
            <a:ext cx="19659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sz="2200" b="1">
                <a:solidFill>
                  <a:srgbClr val="FFFFFF"/>
                </a:solidFill>
              </a:rPr>
              <a:t>10,000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11480" y="1662379"/>
            <a:ext cx="196596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sz="900">
                <a:solidFill>
                  <a:srgbClr val="FFFFFF"/>
                </a:solidFill>
              </a:rPr>
              <a:t>players in</a:t>
            </a:r>
            <a:endParaRPr lang="en-US" sz="950" dirty="0"/>
          </a:p>
          <a:p>
            <a:r>
              <a:rPr sz="900">
                <a:solidFill>
                  <a:srgbClr val="FFFFFF"/>
                </a:solidFill>
              </a:rPr>
              <a:t>master dataset</a:t>
            </a:r>
          </a:p>
        </p:txBody>
      </p:sp>
      <p:sp>
        <p:nvSpPr>
          <p:cNvPr id="9" name="Shape 6"/>
          <p:cNvSpPr/>
          <p:nvPr/>
        </p:nvSpPr>
        <p:spPr>
          <a:xfrm>
            <a:off x="2560320" y="1115568"/>
            <a:ext cx="196596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560320" y="1188720"/>
            <a:ext cx="19659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sz="2200" b="1">
                <a:solidFill>
                  <a:srgbClr val="FFFFFF"/>
                </a:solidFill>
              </a:rPr>
              <a:t>68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2560320" y="1662379"/>
            <a:ext cx="196596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sz="900">
                <a:solidFill>
                  <a:srgbClr val="FFFFFF"/>
                </a:solidFill>
              </a:rPr>
              <a:t>columns after</a:t>
            </a:r>
            <a:endParaRPr lang="en-US" sz="950" dirty="0"/>
          </a:p>
          <a:p>
            <a:r>
              <a:rPr sz="900">
                <a:solidFill>
                  <a:srgbClr val="FFFFFF"/>
                </a:solidFill>
              </a:rPr>
              <a:t>merging</a:t>
            </a:r>
          </a:p>
        </p:txBody>
      </p:sp>
      <p:sp>
        <p:nvSpPr>
          <p:cNvPr id="12" name="Shape 9"/>
          <p:cNvSpPr/>
          <p:nvPr/>
        </p:nvSpPr>
        <p:spPr>
          <a:xfrm>
            <a:off x="4709160" y="1115568"/>
            <a:ext cx="196596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09160" y="1188720"/>
            <a:ext cx="19659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sz="2200" b="1">
                <a:solidFill>
                  <a:srgbClr val="FFFFFF"/>
                </a:solidFill>
              </a:rPr>
              <a:t>7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4709160" y="1662379"/>
            <a:ext cx="196596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sz="900">
                <a:solidFill>
                  <a:srgbClr val="FFFFFF"/>
                </a:solidFill>
              </a:rPr>
              <a:t>source files</a:t>
            </a:r>
            <a:endParaRPr lang="en-US" sz="950" dirty="0"/>
          </a:p>
          <a:p>
            <a:r>
              <a:rPr sz="900">
                <a:solidFill>
                  <a:srgbClr val="FFFFFF"/>
                </a:solidFill>
              </a:rPr>
              <a:t>loaded</a:t>
            </a:r>
          </a:p>
        </p:txBody>
      </p:sp>
      <p:sp>
        <p:nvSpPr>
          <p:cNvPr id="15" name="Shape 12"/>
          <p:cNvSpPr/>
          <p:nvPr/>
        </p:nvSpPr>
        <p:spPr>
          <a:xfrm>
            <a:off x="6858000" y="1115568"/>
            <a:ext cx="196596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858000" y="1188720"/>
            <a:ext cx="19659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sz="2200" b="1">
                <a:solidFill>
                  <a:srgbClr val="FFFFFF"/>
                </a:solidFill>
              </a:rPr>
              <a:t>5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858000" y="1662379"/>
            <a:ext cx="196596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sz="900">
                <a:solidFill>
                  <a:srgbClr val="FFFFFF"/>
                </a:solidFill>
              </a:rPr>
              <a:t>file formats</a:t>
            </a:r>
            <a:endParaRPr lang="en-US" sz="950" dirty="0"/>
          </a:p>
          <a:p>
            <a:r>
              <a:rPr sz="900">
                <a:solidFill>
                  <a:srgbClr val="FFFFFF"/>
                </a:solidFill>
              </a:rPr>
              <a:t>handled</a:t>
            </a:r>
          </a:p>
        </p:txBody>
      </p:sp>
      <p:sp>
        <p:nvSpPr>
          <p:cNvPr id="18" name="Shape 15"/>
          <p:cNvSpPr/>
          <p:nvPr/>
        </p:nvSpPr>
        <p:spPr>
          <a:xfrm>
            <a:off x="411480" y="2331720"/>
            <a:ext cx="41605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48640" y="24231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Pipeline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2743200"/>
            <a:ext cx="39319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800"/>
              <a:t>id0 + id1 → outer join on international_id + medical_id</a:t>
            </a:r>
            <a:endParaRPr lang="en-US" sz="1000" dirty="0"/>
          </a:p>
          <a:p>
            <a:r>
              <a:rPr sz="800"/>
              <a:t>Coalesce duplicate columns (first_name, age, birth_city…)</a:t>
            </a:r>
          </a:p>
          <a:p>
            <a:r>
              <a:rPr sz="800"/>
              <a:t>+ performance.tsv on international_id</a:t>
            </a:r>
          </a:p>
          <a:p>
            <a:r>
              <a:rPr sz="800"/>
              <a:t>+ medical_information.xlsx on medical_id</a:t>
            </a:r>
          </a:p>
          <a:p>
            <a:r>
              <a:rPr sz="800"/>
              <a:t>+ hockey_scouting_notes.csv on international_id</a:t>
            </a:r>
          </a:p>
          <a:p>
            <a:r>
              <a:rPr sz="800"/>
              <a:t>+ contracts_competition.pkl on international_id</a:t>
            </a:r>
          </a:p>
          <a:p>
            <a:r>
              <a:rPr sz="800"/>
              <a:t>+ moms_notes.json via name + closest-age matching</a:t>
            </a:r>
          </a:p>
        </p:txBody>
      </p:sp>
      <p:sp>
        <p:nvSpPr>
          <p:cNvPr id="21" name="Shape 18"/>
          <p:cNvSpPr/>
          <p:nvPr/>
        </p:nvSpPr>
        <p:spPr>
          <a:xfrm>
            <a:off x="4754880" y="2331720"/>
            <a:ext cx="39776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54880" y="2331720"/>
            <a:ext cx="3977640" cy="64008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92040" y="2423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Mom's Notes — Matching Strategy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892040" y="2743200"/>
            <a:ext cx="3749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800"/>
              <a:t>Problem: moms_notes.json has no stable ID column</a:t>
            </a:r>
            <a:endParaRPr lang="en-US" sz="1000" dirty="0"/>
          </a:p>
          <a:p>
            <a:r>
              <a:rPr sz="800"/>
              <a:t>Unique names: direct match on (first_name, last_name)</a:t>
            </a:r>
          </a:p>
          <a:p>
            <a:r>
              <a:rPr sz="800"/>
              <a:t>Ambiguous names: choose closest age, keep uncertainty visible</a:t>
            </a:r>
          </a:p>
          <a:p>
            <a:r>
              <a:rPr sz="800"/>
              <a:t>Unmatched rows: kept as missing values, not deleted</a:t>
            </a:r>
          </a:p>
          <a:p>
            <a:r>
              <a:rPr sz="800"/>
              <a:t>Missingness mechanism cannot be proven in Phase I (MCAR/MAR/NMAR only discussed cautiously)</a:t>
            </a:r>
          </a:p>
          <a:p>
            <a:r>
              <a:rPr sz="800"/>
              <a:t>Processed output keeps invalid flags for later Phase II preprocessing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Relationships  ①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500"/>
              <a:t>Numeric Correlations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005840" cy="41148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64592"/>
            <a:ext cx="548640" cy="49040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715000" y="1115568"/>
            <a:ext cx="3017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852160" y="1207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852160" y="1536192"/>
            <a:ext cx="278892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900"/>
              <a:t>passes_completed ↔ pass_completion_rate: r = +0.75</a:t>
            </a:r>
            <a:endParaRPr lang="en-US" sz="1000" dirty="0"/>
          </a:p>
          <a:p>
            <a:r>
              <a:rPr sz="900"/>
              <a:t>puck_touches ↔ passes_completed: r = +0.71</a:t>
            </a:r>
          </a:p>
          <a:p>
            <a:r>
              <a:rPr sz="900"/>
              <a:t>height ↔ body_fat_percentage: r = −0.70</a:t>
            </a:r>
          </a:p>
          <a:p>
            <a:r>
              <a:rPr sz="900"/>
              <a:t>Pearson is linear only and can still be affected by outliers</a:t>
            </a:r>
          </a:p>
          <a:p>
            <a:r>
              <a:rPr sz="900"/>
              <a:t>No causal claims; high correlations mainly warn about multicollinearity</a:t>
            </a:r>
          </a:p>
        </p:txBody>
      </p:sp>
      <p:pic>
        <p:nvPicPr>
          <p:cNvPr id="10" name="Picture 9" descr="relationships_correlation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360" y="1115568"/>
            <a:ext cx="42468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Relationships  ②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500"/>
              <a:t>Scatter &amp; Grouped Views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005840" cy="41148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64592"/>
            <a:ext cx="548640" cy="4904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115568"/>
            <a:ext cx="41605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11480" y="1115568"/>
            <a:ext cx="4160520" cy="64008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207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1"/>
              <a:t>Visual Relationship Checks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1536192"/>
            <a:ext cx="393192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1115568"/>
            <a:ext cx="39776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115568"/>
            <a:ext cx="3977640" cy="640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9204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1"/>
              <a:t>Interpretation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92040" y="1536192"/>
            <a:ext cx="374904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900"/>
              <a:t>Age vs goals and weight vs shot speed show broad scatter rather than a clean deterministic rule.</a:t>
            </a:r>
            <a:endParaRPr lang="en-US" sz="1050" dirty="0"/>
          </a:p>
          <a:p>
            <a:r>
              <a:rPr sz="900"/>
              <a:t>Time on ice differs by position and contains one extreme value, so role-specific context matters.</a:t>
            </a:r>
          </a:p>
          <a:p>
            <a:r>
              <a:rPr sz="900"/>
              <a:t>These plots support relationship exploration only — not causal conclusions.</a:t>
            </a:r>
          </a:p>
        </p:txBody>
      </p:sp>
      <p:sp>
        <p:nvSpPr>
          <p:cNvPr id="14" name="Shape 11"/>
          <p:cNvSpPr/>
          <p:nvPr/>
        </p:nvSpPr>
        <p:spPr>
          <a:xfrm>
            <a:off x="411480" y="4370832"/>
            <a:ext cx="1965960" cy="658368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11480" y="4443984"/>
            <a:ext cx="19659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sz="1800" b="1">
                <a:solidFill>
                  <a:srgbClr val="FFFFFF"/>
                </a:solidFill>
              </a:rPr>
              <a:t>1.70m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411480" y="4713183"/>
            <a:ext cx="196596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sz="800">
                <a:solidFill>
                  <a:srgbClr val="FFFFFF"/>
                </a:solidFill>
              </a:rPr>
              <a:t>Avg. Height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560320" y="4370832"/>
            <a:ext cx="196596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2560320" y="4443984"/>
            <a:ext cx="19659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sz="1800" b="1">
                <a:solidFill>
                  <a:srgbClr val="FFFFFF"/>
                </a:solidFill>
              </a:rPr>
              <a:t>82.9kg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2560320" y="4713183"/>
            <a:ext cx="196596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sz="800">
                <a:solidFill>
                  <a:srgbClr val="FFFFFF"/>
                </a:solidFill>
              </a:rPr>
              <a:t>Avg. Weight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709160" y="4370832"/>
            <a:ext cx="1965960" cy="658368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709160" y="4443984"/>
            <a:ext cx="19659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sz="1800" b="1">
                <a:solidFill>
                  <a:srgbClr val="FFFFFF"/>
                </a:solidFill>
              </a:rPr>
              <a:t>23.9%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4709160" y="4713183"/>
            <a:ext cx="196596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sz="800">
                <a:solidFill>
                  <a:srgbClr val="FFFFFF"/>
                </a:solidFill>
              </a:rPr>
              <a:t>Avg. Body Fat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858000" y="4370832"/>
            <a:ext cx="196596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858000" y="4443984"/>
            <a:ext cx="19659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sz="1800" b="1">
                <a:solidFill>
                  <a:srgbClr val="FFFFFF"/>
                </a:solidFill>
              </a:rPr>
              <a:t>25.3 yrs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6858000" y="4713183"/>
            <a:ext cx="196596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sz="800">
                <a:solidFill>
                  <a:srgbClr val="FFFFFF"/>
                </a:solidFill>
              </a:rPr>
              <a:t>Avg. Age</a:t>
            </a:r>
            <a:endParaRPr lang="en-US" sz="950" dirty="0"/>
          </a:p>
        </p:txBody>
      </p:sp>
      <p:pic>
        <p:nvPicPr>
          <p:cNvPr id="26" name="Picture 25" descr="relationships_scatter_group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130837"/>
            <a:ext cx="3977639" cy="12430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 ①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005840" cy="41148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64592"/>
            <a:ext cx="548640" cy="49040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715000" y="1115568"/>
            <a:ext cx="3017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852160" y="1207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1"/>
              <a:t>Handling Strategy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852160" y="1536192"/>
            <a:ext cx="2788920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800"/>
              <a:t>100% missing: favourite_tv_show, favourite_food → unusable/drop candidates</a:t>
            </a:r>
            <a:endParaRPr lang="en-US" sz="950" dirty="0"/>
          </a:p>
          <a:p>
            <a:r>
              <a:rPr sz="800"/>
              <a:t>medical_information (85%): sparse free text; not a direct model feature</a:t>
            </a:r>
          </a:p>
          <a:p>
            <a:r>
              <a:rPr sz="800"/>
              <a:t>fitness_level (15.9%): categorical → possible 'Unknown' later</a:t>
            </a:r>
          </a:p>
          <a:p>
            <a:r>
              <a:rPr sz="800"/>
              <a:t>Numeric missing values: median imputation only after train/test split</a:t>
            </a:r>
          </a:p>
          <a:p>
            <a:r>
              <a:rPr sz="800"/>
              <a:t>Date missingness: keep NaT + missing flag; no blind date imputation</a:t>
            </a:r>
          </a:p>
          <a:p>
            <a:r>
              <a:rPr sz="800"/>
              <a:t>Mechanism check is only evidence: MCAR/MAR/NMAR cannot be proven from Phase I</a:t>
            </a:r>
          </a:p>
        </p:txBody>
      </p:sp>
      <p:sp>
        <p:nvSpPr>
          <p:cNvPr id="10" name="Shape 6"/>
          <p:cNvSpPr/>
          <p:nvPr/>
        </p:nvSpPr>
        <p:spPr>
          <a:xfrm>
            <a:off x="411480" y="4434840"/>
            <a:ext cx="8321040" cy="548640"/>
          </a:xfrm>
          <a:prstGeom prst="rect">
            <a:avLst/>
          </a:prstGeom>
          <a:solidFill>
            <a:srgbClr val="FFF0F3"/>
          </a:solidFill>
          <a:ln w="6350">
            <a:solidFill>
              <a:srgbClr val="E4003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" y="4434840"/>
            <a:ext cx="82296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sz="1000"/>
              <a:t>⚠  No values are blindly imputed in Phase I. Missingness is quantified and documented; final imputation belongs after the Phase II train/test split.</a:t>
            </a:r>
            <a:endParaRPr lang="en-US" sz="900" dirty="0"/>
          </a:p>
        </p:txBody>
      </p:sp>
      <p:pic>
        <p:nvPicPr>
          <p:cNvPr id="12" name="Picture 11" descr="missingness_top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115568"/>
            <a:ext cx="4800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 ②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500"/>
              <a:t>Outliers &amp; Invalid Values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005840" cy="41148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64592"/>
            <a:ext cx="548640" cy="49040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715000" y="1115568"/>
            <a:ext cx="3017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852160" y="1207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1"/>
              <a:t>Treatment by Type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852160" y="1536192"/>
            <a:ext cx="2788920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800"/>
              <a:t>IQR outliers: flagged as unusual, not removed automatically</a:t>
            </a:r>
            <a:endParaRPr lang="en-US" sz="950" dirty="0"/>
          </a:p>
          <a:p>
            <a:r>
              <a:rPr sz="800"/>
              <a:t>Domain-impossible values: replaced with NaN in processed dataset</a:t>
            </a:r>
          </a:p>
          <a:p>
            <a:r>
              <a:rPr sz="800"/>
              <a:t>Invalid flags preserve where impossible values occurred</a:t>
            </a:r>
          </a:p>
          <a:p>
            <a:r>
              <a:rPr sz="800"/>
              <a:t>Examples: age up to 455, height up to 3.09m, body fat &gt; 35%</a:t>
            </a:r>
          </a:p>
          <a:p>
            <a:r>
              <a:rPr sz="800"/>
              <a:t>Rare but plausible players are kept; no rows are deleted</a:t>
            </a:r>
          </a:p>
          <a:p>
            <a:r>
              <a:rPr sz="800"/>
              <a:t>No winsorising/capping of impossible values</a:t>
            </a:r>
          </a:p>
        </p:txBody>
      </p:sp>
      <p:sp>
        <p:nvSpPr>
          <p:cNvPr id="10" name="Shape 6"/>
          <p:cNvSpPr/>
          <p:nvPr/>
        </p:nvSpPr>
        <p:spPr>
          <a:xfrm>
            <a:off x="411480" y="4434840"/>
            <a:ext cx="2286000" cy="594360"/>
          </a:xfrm>
          <a:prstGeom prst="rect">
            <a:avLst/>
          </a:prstGeom>
          <a:solidFill>
            <a:srgbClr val="A8002A"/>
          </a:solidFill>
          <a:ln w="12700">
            <a:solidFill>
              <a:srgbClr val="A800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11480" y="4507992"/>
            <a:ext cx="228600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sz="1600" b="1">
                <a:solidFill>
                  <a:srgbClr val="FFFFFF"/>
                </a:solidFill>
              </a:rPr>
              <a:t>age max 455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411480" y="4743907"/>
            <a:ext cx="228600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sz="800">
                <a:solidFill>
                  <a:srgbClr val="FFFFFF"/>
                </a:solidFill>
              </a:rPr>
              <a:t>invalid → NaN + flag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2880360" y="4434840"/>
            <a:ext cx="2286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2880360" y="4507992"/>
            <a:ext cx="228600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sz="1600" b="1">
                <a:solidFill>
                  <a:srgbClr val="FFFFFF"/>
                </a:solidFill>
              </a:rPr>
              <a:t>61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2880360" y="4743907"/>
            <a:ext cx="228600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sz="800">
                <a:solidFill>
                  <a:srgbClr val="FFFFFF"/>
                </a:solidFill>
              </a:rPr>
              <a:t>height violations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349240" y="4434840"/>
            <a:ext cx="3383280" cy="59436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349240" y="4507992"/>
            <a:ext cx="338328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sz="1600" b="1">
                <a:solidFill>
                  <a:srgbClr val="FFFFFF"/>
                </a:solidFill>
              </a:rPr>
              <a:t>0 rows deleted</a:t>
            </a:r>
            <a:endParaRPr lang="en-US" sz="2800" dirty="0"/>
          </a:p>
        </p:txBody>
      </p:sp>
      <p:sp>
        <p:nvSpPr>
          <p:cNvPr id="18" name="Text 14"/>
          <p:cNvSpPr/>
          <p:nvPr/>
        </p:nvSpPr>
        <p:spPr>
          <a:xfrm>
            <a:off x="5349240" y="4743907"/>
            <a:ext cx="338328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sz="800">
                <a:solidFill>
                  <a:srgbClr val="FFFFFF"/>
                </a:solidFill>
              </a:rPr>
              <a:t>only values flagged/NaN</a:t>
            </a:r>
            <a:endParaRPr lang="en-US" sz="950" dirty="0"/>
          </a:p>
        </p:txBody>
      </p:sp>
      <p:pic>
        <p:nvPicPr>
          <p:cNvPr id="19" name="Picture 18" descr="outliers_boxplo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222248"/>
            <a:ext cx="5120640" cy="2987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37160"/>
            <a:ext cx="685800" cy="6130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0116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400" b="1"/>
              <a:t>Key Findings &amp; Discussion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02920" y="694944"/>
            <a:ext cx="1005840" cy="41148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11480" y="960120"/>
            <a:ext cx="2651760" cy="1783080"/>
          </a:xfrm>
          <a:prstGeom prst="rect">
            <a:avLst/>
          </a:prstGeom>
          <a:solidFill>
            <a:srgbClr val="22224A"/>
          </a:solidFill>
          <a:ln w="6350">
            <a:solidFill>
              <a:srgbClr val="3A3A6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1480" y="960120"/>
            <a:ext cx="54864" cy="1783080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0698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1"/>
              <a:t>⚙  Heterogeneous Sources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435608"/>
            <a:ext cx="24231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900"/>
              <a:t>7 source files in 5 formats merged into a 10,000-row, 68-column master dataset with custom parsing and careful joins.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46120" y="960120"/>
            <a:ext cx="2651760" cy="1783080"/>
          </a:xfrm>
          <a:prstGeom prst="rect">
            <a:avLst/>
          </a:prstGeom>
          <a:solidFill>
            <a:srgbClr val="22224A"/>
          </a:solidFill>
          <a:ln w="6350">
            <a:solidFill>
              <a:srgbClr val="3A3A6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46120" y="960120"/>
            <a:ext cx="54864" cy="1783080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83280" y="10698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1"/>
              <a:t>📋  Missingness is Structured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383280" y="1435608"/>
            <a:ext cx="24231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900"/>
              <a:t>Two columns are 100% missing; medical_information is 85.18% missing. MCAR/MAR/NMAR cannot be proven, so strategy stays cautious.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080760" y="960120"/>
            <a:ext cx="2651760" cy="1783080"/>
          </a:xfrm>
          <a:prstGeom prst="rect">
            <a:avLst/>
          </a:prstGeom>
          <a:solidFill>
            <a:srgbClr val="22224A"/>
          </a:solidFill>
          <a:ln w="6350">
            <a:solidFill>
              <a:srgbClr val="3A3A6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80760" y="960120"/>
            <a:ext cx="54864" cy="1783080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0698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1"/>
              <a:t>🧹  Invalid ≠ Unusual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17920" y="1435608"/>
            <a:ext cx="24231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900"/>
              <a:t>Domain-impossible values such as age 455 or height &gt;3m are replaced with NaN and flagged; IQR outliers are not automatically removed.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11480" y="2926080"/>
            <a:ext cx="2651760" cy="1783080"/>
          </a:xfrm>
          <a:prstGeom prst="rect">
            <a:avLst/>
          </a:prstGeom>
          <a:solidFill>
            <a:srgbClr val="22224A"/>
          </a:solidFill>
          <a:ln w="6350">
            <a:solidFill>
              <a:srgbClr val="3A3A6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2926080"/>
            <a:ext cx="54864" cy="1783080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0358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1"/>
              <a:t>🔗  Strong Associations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3401568"/>
            <a:ext cx="24231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900"/>
              <a:t>Top Pearson pairs: passes_completed/pass_completion_rate (r=+0.75), puck_touches/passes_completed (r=+0.71), height/body fat (r=−0.70).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246120" y="2926080"/>
            <a:ext cx="2651760" cy="1783080"/>
          </a:xfrm>
          <a:prstGeom prst="rect">
            <a:avLst/>
          </a:prstGeom>
          <a:solidFill>
            <a:srgbClr val="22224A"/>
          </a:solidFill>
          <a:ln w="6350">
            <a:solidFill>
              <a:srgbClr val="3A3A6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246120" y="2926080"/>
            <a:ext cx="54864" cy="1783080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83280" y="30358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1"/>
              <a:t>💾  Processed Output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383280" y="3401568"/>
            <a:ext cx="24231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900"/>
              <a:t>phase1_processed_dataset.csv keeps all rows, replaces only domain-impossible values with NaN, and adds &lt;column&gt;_invalid_flag fields.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080760" y="2926080"/>
            <a:ext cx="2651760" cy="1783080"/>
          </a:xfrm>
          <a:prstGeom prst="rect">
            <a:avLst/>
          </a:prstGeom>
          <a:solidFill>
            <a:srgbClr val="22224A"/>
          </a:solidFill>
          <a:ln w="6350">
            <a:solidFill>
              <a:srgbClr val="3A3A6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080760" y="2926080"/>
            <a:ext cx="54864" cy="1783080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17920" y="30358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1"/>
              <a:t>🚀  Phase II Next Steps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217920" y="3401568"/>
            <a:ext cx="24231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900"/>
              <a:t>Impute after train/test split, handle text separately, reduce redundant features, and keep correlation caveats in mind.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" y="4828032"/>
            <a:ext cx="82296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/>
              <a:t>Phase II →  Train/test split · Type-wise imputation · Feature selection · Model evaluation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2026-04-26T10:44:02Z</dcterms:created>
  <dcterms:modified xsi:type="dcterms:W3CDTF">2026-04-26T10:44:02Z</dcterms:modified>
</cp:coreProperties>
</file>